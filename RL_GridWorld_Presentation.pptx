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Belohnung pro Episode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Reward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1500</c:v>
                  </c:pt>
                  <c:pt idx="4">
                    <c:v>2000</c:v>
                  </c:pt>
                  <c:pt idx="5">
                    <c:v>2500</c:v>
                  </c:pt>
                  <c:pt idx="6">
                    <c:v>3000</c:v>
                  </c:pt>
                  <c:pt idx="7">
                    <c:v>3500</c:v>
                  </c:pt>
                  <c:pt idx="8">
                    <c:v>4000</c:v>
                  </c:pt>
                  <c:pt idx="9">
                    <c:v>4500</c:v>
                  </c:pt>
                  <c:pt idx="10">
                    <c:v>5000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-85</c:v>
                </c:pt>
                <c:pt idx="1">
                  <c:v>-60</c:v>
                </c:pt>
                <c:pt idx="2">
                  <c:v>-35</c:v>
                </c:pt>
                <c:pt idx="3">
                  <c:v>-15</c:v>
                </c:pt>
                <c:pt idx="4">
                  <c:v>5</c:v>
                </c:pt>
                <c:pt idx="5">
                  <c:v>18</c:v>
                </c:pt>
                <c:pt idx="6">
                  <c:v>28</c:v>
                </c:pt>
                <c:pt idx="7">
                  <c:v>35</c:v>
                </c:pt>
                <c:pt idx="8">
                  <c:v>39</c:v>
                </c:pt>
                <c:pt idx="9">
                  <c:v>42</c:v>
                </c:pt>
                <c:pt idx="10">
                  <c:v>44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67728" y="274320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51776" y="274320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35824" y="274320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19872" y="274320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274320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658368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67728" y="658368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51776" y="658368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658368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658368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658368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042416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67728" y="1042416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51776" y="1042416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1042416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042416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1042416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426464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67728" y="1426464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1776" y="1426464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35824" y="1426464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1426464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1426464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1810512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67728" y="1810512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51776" y="1810512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35824" y="1810512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9872" y="1810512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1810512"/>
            <a:ext cx="73152" cy="7315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822960"/>
            <a:ext cx="2377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822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MINI-PROJECT · IRONHACK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13716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Reinforcement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4572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</a:rPr>
              <a:t>Grid World Navigation mit Q-Learning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BA4"/>
                </a:solidFill>
              </a:rPr>
              <a:t>DNL  ·  Ironhack Data Science Bootcamp  ·  2026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32320" y="1097280"/>
            <a:ext cx="1645920" cy="1645920"/>
          </a:xfrm>
          <a:prstGeom prst="ellipse">
            <a:avLst/>
          </a:prstGeom>
          <a:solidFill>
            <a:srgbClr val="1B2E4A"/>
          </a:solidFill>
          <a:ln w="381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11430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🤖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Was ist Reinforcement Learning?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Die Idee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Ein Agent interagiert mit einer Umgebung.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Er probiert Aktionen aus, bekommt Belohnungen oder Strafen — und lernt mit der Zeit, immer besser zu werden.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Kein gelabeltes Daten. Kein Lehrer. Nur: ausprobieren → Feedback → verbessern.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Die 5 Kernbegriffe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🧠 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Der Lernende — trifft Entscheidungen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🌍  Umgebung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Das System, in dem er agiert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📍  Zustand (State)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697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Wo befindet sich der Agent gerade?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🎮  Aktion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Was tut er als nächstes?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🏆  Belohnung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794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Wie gut war die Entscheidung?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Folie 1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 Problem: Grid World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83464" cy="283464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96012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96012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96012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7048" y="96012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96012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6012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2304" y="96012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34056" y="96012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35808" y="96012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261872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261872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" y="1261872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5296" y="1261872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27048" y="1261872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1261872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0552" y="1261872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32304" y="1261872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34056" y="1261872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5808" y="1261872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156362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156362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" y="156362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25296" y="1563624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27048" y="156362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1563624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30552" y="156362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2304" y="156362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34056" y="1563624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5808" y="156362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1865376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1865376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" y="1865376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25296" y="1865376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27048" y="1865376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0" y="1865376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30552" y="1865376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32304" y="1865376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34056" y="1865376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35808" y="1865376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216712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" y="2167128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" y="216712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25296" y="216712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27048" y="216712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28800" y="216712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30552" y="216712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32304" y="2167128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34056" y="216712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35808" y="216712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246888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1792" y="2468880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3544" y="246888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225296" y="2468880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27048" y="2468880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28800" y="2468880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30552" y="2468880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32304" y="2468880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34056" y="246888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35808" y="2468880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2770632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" y="2770632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3544" y="2770632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25296" y="2770632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27048" y="2770632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28800" y="2770632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30552" y="2770632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32304" y="2770632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34056" y="2770632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35808" y="2770632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0040" y="307238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1792" y="3072384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23544" y="307238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25296" y="3072384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27048" y="307238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28800" y="3072384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30552" y="3072384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32304" y="3072384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34056" y="307238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035808" y="3072384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0040" y="3374136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1792" y="3374136"/>
            <a:ext cx="283464" cy="283464"/>
          </a:xfrm>
          <a:prstGeom prst="rect">
            <a:avLst/>
          </a:prstGeom>
          <a:solidFill>
            <a:srgbClr val="D1FA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23544" y="3374136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225296" y="3374136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27048" y="3374136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28800" y="3374136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30552" y="3374136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32304" y="3374136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34056" y="3374136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35808" y="3374136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0040" y="367588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21792" y="367588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23544" y="367588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225296" y="3675888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527048" y="367588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828800" y="367588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30552" y="367588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432304" y="3675888"/>
            <a:ext cx="283464" cy="28346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34056" y="3675888"/>
            <a:ext cx="283464" cy="283464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35808" y="3675888"/>
            <a:ext cx="283464" cy="283464"/>
          </a:xfrm>
          <a:prstGeom prst="rect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0040" y="96012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3035808" y="3675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520440" y="96012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3749040" y="1097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Aufgabe des Agenten</a:t>
            </a:r>
            <a:endParaRPr lang="en-US" sz="1500" dirty="0"/>
          </a:p>
        </p:txBody>
      </p:sp>
      <p:sp>
        <p:nvSpPr>
          <p:cNvPr id="108" name="Shape 106"/>
          <p:cNvSpPr/>
          <p:nvPr/>
        </p:nvSpPr>
        <p:spPr>
          <a:xfrm>
            <a:off x="3749040" y="1645920"/>
            <a:ext cx="1371600" cy="438912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749040" y="1645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🚀 Start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5212080" y="1645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(oben links)  →  Ziel (unten rechts)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3749040" y="2267712"/>
            <a:ext cx="1371600" cy="438912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749040" y="22677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🧱 Hindernisse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5212080" y="226771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Wände = verboten (Strafe: -10)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3749040" y="2889504"/>
            <a:ext cx="1371600" cy="438912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749040" y="28895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👣 Jeden Schritt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5212080" y="288950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kostet -1 Punkt (kürzter Weg!)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3749040" y="3511296"/>
            <a:ext cx="1371600" cy="438912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749040" y="35112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🏆 Ziel erreicht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212080" y="351129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+50 Punkte Belohnung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3749040" y="4133088"/>
            <a:ext cx="1371600" cy="438912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749040" y="41330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🔁 5.000 Versuche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5212080" y="413308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um den besten Weg zu lernen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320040" y="4160520"/>
            <a:ext cx="2560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12648" y="41422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Start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1280160" y="4160520"/>
            <a:ext cx="2560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572768" y="41422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Ziel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2011680" y="4160520"/>
            <a:ext cx="25603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304288" y="41422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Gelernter Pfad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3246120" y="4160520"/>
            <a:ext cx="256032" cy="16459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538728" y="41422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Wand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Folie 2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Q-Learning: Wie funktioniert es?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6012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🎮  Analogie: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9601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Wie ein Videospiel-Neuling — zuerst random Knöpfe drücken, dann aus Fehlern lernen, irgendwann den Level im Schlaf durchspielen.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11680"/>
            <a:ext cx="1965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Beobachten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" y="30175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Agent sieht seinen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aktuellen Zustand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2743200"/>
            <a:ext cx="21031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20116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2011680"/>
            <a:ext cx="1965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Handeln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50592" y="2514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50592" y="30175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Wählt eine Aktion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(ε-greedy)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16552" y="2743200"/>
            <a:ext cx="21031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20116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2011680"/>
            <a:ext cx="1965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Feedback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26864" y="2514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26864" y="30175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Erhält Belohnung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oder Strafe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92824" y="2743200"/>
            <a:ext cx="21031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20116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2011680"/>
            <a:ext cx="1965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Lernen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03136" y="2514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03136" y="30175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Aktualisiert die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Q-Tabelle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8595360" cy="777240"/>
          </a:xfrm>
          <a:prstGeom prst="rect">
            <a:avLst/>
          </a:prstGeom>
          <a:solidFill>
            <a:srgbClr val="0F1E3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8404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Bellman: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0" y="384048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Q(s,a) = Q(s,a) + α·[r + γ·maxQ(s',a') − Q(s,a)]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Folie 3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Schlüssel-Parameter &amp; ε-Greedy Strategie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03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Parameter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303520" cy="34747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Parameter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Wert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Bedeutung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53035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0136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 (alpha)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1892808"/>
            <a:ext cx="10972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8928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80136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Lernrate — wie stark neue Info alte überschreibt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231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 (gamma)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54480" y="2514600"/>
            <a:ext cx="10972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2514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4231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Diskontierung — zukünftige Belohnungen zählen fast gleich viel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44952"/>
            <a:ext cx="53035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4495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 (epsilon)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54480" y="3136392"/>
            <a:ext cx="10972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3136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0.5 → 0.01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30449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Exploration sinkt mit jeder Episode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66744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6674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54480" y="3758184"/>
            <a:ext cx="10972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5.000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88920" y="366674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Anzahl der kompletten Durchläufe durchs Labyrinth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914400"/>
            <a:ext cx="3017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ε-Greedy Strategie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89320" y="1508760"/>
            <a:ext cx="2743200" cy="10058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🎲  EXPLORATION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8932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Zufällige Aktion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Agent erkundet unbekannte Felder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2606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mit Wahrsch. ε    vs    (1-ε)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9320" y="2971800"/>
            <a:ext cx="2743200" cy="100584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🧠  EXPLOITATION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8932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Beste bekannte Aktion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Agent nutzt sein Wissen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Folie 4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Implementierung: Code-Überblick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749040"/>
          </a:xfrm>
          <a:prstGeom prst="rect">
            <a:avLst/>
          </a:prstGeom>
          <a:solidFill>
            <a:srgbClr val="1E2D3D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36576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BA4"/>
                </a:solidFill>
              </a:rPr>
              <a:t>● ● ●   Q-Learning 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Q-Learning Update Rule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old_value = Q[state][action]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next_max = np.max(Q[next_state])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Q[state][action] = old_value + alpha 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(reward + gamma * next_max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 old_value)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Epsilon Decay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epsilon = max(0.01,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epsilon * 0.995)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2918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7 Schritte im Notebook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148132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53328" y="1481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Libraries &amp; Labyrinth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192938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929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53328" y="19293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RL Parameter &amp; Q-Tabelle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23774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53328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Gültigkeitscheck &amp; Aktionswahl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15000" y="282549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53328" y="28254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Agent trainieren (5.000 Ep.)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32735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53328" y="32735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Optimalen Pfad extrahieren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15000" y="37216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53328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Labyrinth visualisieren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0" y="416966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53328" y="416966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Lernkurve plotten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Folie 5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Ergebnisse &amp; Analyse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60120"/>
            <a:ext cx="3291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6012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✅  Agent findet den Weg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60720" y="13533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Nach 5.000 Episoden navigiert er zuverlässig vom Start zum Ziel.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057400"/>
            <a:ext cx="3291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05740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103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📈  Klare Lernkurve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60720" y="24505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Belohnungen steigen von ~-85 auf ~+44 — deutlicher Lernfortschritt.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3154680"/>
            <a:ext cx="3291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315468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⚠️  Herausforderung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60720" y="35478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Epsilon-Decay zu schnell → Agent bleibt in suboptimalen Pfaden stecken.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4251960"/>
            <a:ext cx="8595360" cy="43891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2519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💡  Was würde ich anders machen?  Mehr Episoden + verschiedene Epsilon-Decay-Raten vergleichen.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Folie 6 /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39696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1488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05072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8656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4032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35824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828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17904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39696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1488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5072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48656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5824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7616" y="80467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17904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696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61488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05072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6864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48656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0448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14032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35824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57616" y="142646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17904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9696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61488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05072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26864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48656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70448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14032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35824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57616" y="2048256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6112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17904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39696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61488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05072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26864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48656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70448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92240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4032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35824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57616" y="2670048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6112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17904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39696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61488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05072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26864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48656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70448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92240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14032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35824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57616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4320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6112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17904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61488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05072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26864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48656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70448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92240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114032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35824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357616" y="391363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74320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96112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517904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139696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61488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383280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05072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626864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48656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70448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92240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114032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735824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357616" y="4535424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31520" y="457200"/>
            <a:ext cx="7680960" cy="4160520"/>
          </a:xfrm>
          <a:prstGeom prst="rect">
            <a:avLst/>
          </a:prstGeom>
          <a:solidFill>
            <a:srgbClr val="1B2E4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91440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116" name="Shape 114"/>
          <p:cNvSpPr/>
          <p:nvPr/>
        </p:nvSpPr>
        <p:spPr>
          <a:xfrm>
            <a:off x="914400" y="1234440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97280" y="12344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RL = Agent lernt durch Versuch &amp; Irrtum — kein gelabeltes Daten nötig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914400" y="1801368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97280" y="180136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Q-Learning speichert Erfahrungen in einer Tabelle und lernt den optimalen Weg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914400" y="2368296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097280" y="236829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Das Exploration-Exploitation-Dilemma ist das Herzstück von RL — auch im echten Leben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914400" y="2935224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97280" y="293522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Grid World ist ideal zum Verstehen: einfach, visuell, nachvollziehbar</a:t>
            </a:r>
            <a:endParaRPr lang="en-US" sz="1300" dirty="0"/>
          </a:p>
        </p:txBody>
      </p:sp>
      <p:sp>
        <p:nvSpPr>
          <p:cNvPr id="124" name="Text 122"/>
          <p:cNvSpPr/>
          <p:nvPr/>
        </p:nvSpPr>
        <p:spPr>
          <a:xfrm>
            <a:off x="91440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Ressourcen: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274320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GeeksForGeeks · What is Reinforcement Learning     |     Sutton &amp; Barto: Reinforcement Learning — An Introduction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DNL  ·  Ironhack Data Science Bootcamp  ·  2026          Danke!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Learning: Grid World</dc:title>
  <dc:subject>PptxGenJS Presentation</dc:subject>
  <dc:creator>DNL</dc:creator>
  <cp:lastModifiedBy>DNL</cp:lastModifiedBy>
  <cp:revision>1</cp:revision>
  <dcterms:created xsi:type="dcterms:W3CDTF">2026-06-08T14:35:43Z</dcterms:created>
  <dcterms:modified xsi:type="dcterms:W3CDTF">2026-06-08T14:35:43Z</dcterms:modified>
</cp:coreProperties>
</file>