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93B"/>
                </a:solidFill>
                <a:latin typeface="Arial"/>
              </a:rPr>
              <a:t>Reward per Episode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Reward</c:v>
                </c:pt>
              </c:strCache>
            </c:strRef>
          </c:tx>
          <c:spPr>
            <a:solidFill>
              <a:srgbClr val="0D9488"/>
            </a:solidFill>
            <a:ln w="381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500</c:v>
                  </c:pt>
                  <c:pt idx="2">
                    <c:v>1000</c:v>
                  </c:pt>
                  <c:pt idx="3">
                    <c:v>1500</c:v>
                  </c:pt>
                  <c:pt idx="4">
                    <c:v>2000</c:v>
                  </c:pt>
                  <c:pt idx="5">
                    <c:v>2500</c:v>
                  </c:pt>
                  <c:pt idx="6">
                    <c:v>3000</c:v>
                  </c:pt>
                  <c:pt idx="7">
                    <c:v>3500</c:v>
                  </c:pt>
                  <c:pt idx="8">
                    <c:v>4000</c:v>
                  </c:pt>
                  <c:pt idx="9">
                    <c:v>4500</c:v>
                  </c:pt>
                  <c:pt idx="10">
                    <c:v>5000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-85</c:v>
                </c:pt>
                <c:pt idx="1">
                  <c:v>-60</c:v>
                </c:pt>
                <c:pt idx="2">
                  <c:v>-35</c:v>
                </c:pt>
                <c:pt idx="3">
                  <c:v>-15</c:v>
                </c:pt>
                <c:pt idx="4">
                  <c:v>5</c:v>
                </c:pt>
                <c:pt idx="5">
                  <c:v>18</c:v>
                </c:pt>
                <c:pt idx="6">
                  <c:v>28</c:v>
                </c:pt>
                <c:pt idx="7">
                  <c:v>35</c:v>
                </c:pt>
                <c:pt idx="8">
                  <c:v>39</c:v>
                </c:pt>
                <c:pt idx="9">
                  <c:v>42</c:v>
                </c:pt>
                <c:pt idx="10">
                  <c:v>44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67728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51776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35824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19872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0" y="274320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0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7728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51776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35824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658368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67728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51776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19872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1042416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67728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51776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35824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03920" y="1426464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967728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51776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35824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19872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03920" y="1810512"/>
            <a:ext cx="73152" cy="73152"/>
          </a:xfrm>
          <a:prstGeom prst="ellipse">
            <a:avLst/>
          </a:prstGeom>
          <a:solidFill>
            <a:srgbClr val="0D9488">
              <a:alpha val="30000"/>
            </a:srgbClr>
          </a:solidFill>
          <a:ln w="12700">
            <a:solidFill>
              <a:srgbClr val="0D9488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822960"/>
            <a:ext cx="237744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8229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MINI-PROJECT · IRONHACK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137160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Reinforcement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Learning</a:t>
            </a:r>
            <a:endParaRPr lang="en-US" sz="5200" dirty="0"/>
          </a:p>
        </p:txBody>
      </p:sp>
      <p:sp>
        <p:nvSpPr>
          <p:cNvPr id="36" name="Text 34"/>
          <p:cNvSpPr/>
          <p:nvPr/>
        </p:nvSpPr>
        <p:spPr>
          <a:xfrm>
            <a:off x="4572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4B8A6"/>
                </a:solidFill>
              </a:rPr>
              <a:t>Grid World Navigation with Q-Learning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8BA4"/>
                </a:solidFill>
              </a:rPr>
              <a:t>DNL  ·  Ironhack Data Science Bootcamp  ·  2026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132320" y="1097280"/>
            <a:ext cx="1645920" cy="1645920"/>
          </a:xfrm>
          <a:prstGeom prst="ellipse">
            <a:avLst/>
          </a:prstGeom>
          <a:solidFill>
            <a:srgbClr val="1B2E4A"/>
          </a:solidFill>
          <a:ln w="381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0" y="1143000"/>
            <a:ext cx="1645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🤖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What is Reinforcement Learning?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0233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97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The Idea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An agent interacts with an environment.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It tries actions, receives rewards or penalties — and learns over time to get better and better.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No labeled data. No teacher. Just: try → get feedback → improve.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The 5 Key Concepts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🧠  Agent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learner — makes decisions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🌍  Environment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21488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The system the agent operates 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📍  State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697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Where is the agent right now?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246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🎮  Action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2461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What does it do next?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3794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🏆  Reward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0" y="37947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How good was the decision?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1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Problem: Grid World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83464" cy="283464"/>
          </a:xfrm>
          <a:prstGeom prst="rect">
            <a:avLst/>
          </a:prstGeom>
          <a:solidFill>
            <a:srgbClr val="F59E0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25296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27048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30552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32304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34056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35808" y="96012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3544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25296" y="126187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7048" y="126187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0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32304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34056" y="126187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5808" y="126187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25296" y="156362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27048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28800" y="156362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30552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432304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34056" y="156362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5808" y="156362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0040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3544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225296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27048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0" y="186537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30552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432304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34056" y="186537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35808" y="186537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792" y="2167128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23544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225296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27048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828800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30552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32304" y="216712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34056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035808" y="216712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0040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21792" y="2468880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3544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225296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27048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28800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130552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432304" y="2468880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34056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035808" y="2468880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20040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21792" y="2770632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23544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225296" y="277063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527048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828800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30552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432304" y="2770632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34056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035808" y="2770632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20040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" y="3072384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23544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225296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27048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0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30552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432304" y="3072384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734056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035808" y="3072384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20040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1792" y="3374136"/>
            <a:ext cx="283464" cy="283464"/>
          </a:xfrm>
          <a:prstGeom prst="rect">
            <a:avLst/>
          </a:prstGeom>
          <a:solidFill>
            <a:srgbClr val="D1FA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923544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225296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27048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28800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30552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32304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34056" y="3374136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35808" y="3374136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20040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21792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3544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225296" y="367588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527048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0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130552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432304" y="3675888"/>
            <a:ext cx="283464" cy="283464"/>
          </a:xfrm>
          <a:prstGeom prst="rect">
            <a:avLst/>
          </a:prstGeom>
          <a:solidFill>
            <a:srgbClr val="2C3E5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34056" y="3675888"/>
            <a:ext cx="283464" cy="283464"/>
          </a:xfrm>
          <a:prstGeom prst="rect">
            <a:avLst/>
          </a:prstGeom>
          <a:solidFill>
            <a:srgbClr val="0D948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035808" y="3675888"/>
            <a:ext cx="283464" cy="283464"/>
          </a:xfrm>
          <a:prstGeom prst="rect">
            <a:avLst/>
          </a:prstGeom>
          <a:solidFill>
            <a:srgbClr val="10B981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20040" y="96012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3035808" y="367588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3520440" y="960120"/>
            <a:ext cx="53035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7" name="Text 105"/>
          <p:cNvSpPr/>
          <p:nvPr/>
        </p:nvSpPr>
        <p:spPr>
          <a:xfrm>
            <a:off x="3749040" y="10972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Agent's Task</a:t>
            </a:r>
            <a:endParaRPr lang="en-US" sz="1500" dirty="0"/>
          </a:p>
        </p:txBody>
      </p:sp>
      <p:sp>
        <p:nvSpPr>
          <p:cNvPr id="108" name="Shape 106"/>
          <p:cNvSpPr/>
          <p:nvPr/>
        </p:nvSpPr>
        <p:spPr>
          <a:xfrm>
            <a:off x="3749040" y="1645920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749040" y="164592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🚀 Start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5212080" y="1645920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(top left)  →  Goal (bottom right)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3749040" y="2267712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749040" y="22677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🧱 Obstacles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5212080" y="2267712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Walls = forbidden (penalty: -10)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749040" y="2889504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749040" y="288950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👣 Each step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5212080" y="2889504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costs -1 point (find shortest path!)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3749040" y="3511296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749040" y="351129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🏆 Goal reached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5212080" y="3511296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+50 points reward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3749040" y="4133088"/>
            <a:ext cx="1371600" cy="438912"/>
          </a:xfrm>
          <a:prstGeom prst="rect">
            <a:avLst/>
          </a:prstGeom>
          <a:solidFill>
            <a:srgbClr val="0D9488">
              <a:alpha val="15000"/>
            </a:srgbClr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749040" y="41330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🔁 5,000 episodes</a:t>
            </a:r>
            <a:endParaRPr lang="en-US" sz="1100" dirty="0"/>
          </a:p>
        </p:txBody>
      </p:sp>
      <p:sp>
        <p:nvSpPr>
          <p:cNvPr id="122" name="Text 120"/>
          <p:cNvSpPr/>
          <p:nvPr/>
        </p:nvSpPr>
        <p:spPr>
          <a:xfrm>
            <a:off x="5212080" y="4133088"/>
            <a:ext cx="3383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to learn the optimal path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320040" y="4160520"/>
            <a:ext cx="2560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1264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Start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1280160" y="4160520"/>
            <a:ext cx="2560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57276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Ziel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2011680" y="4160520"/>
            <a:ext cx="256032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304288" y="414223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Learned Path</a:t>
            </a:r>
            <a:endParaRPr lang="en-US" sz="900" dirty="0"/>
          </a:p>
        </p:txBody>
      </p:sp>
      <p:sp>
        <p:nvSpPr>
          <p:cNvPr id="129" name="Shape 127"/>
          <p:cNvSpPr/>
          <p:nvPr/>
        </p:nvSpPr>
        <p:spPr>
          <a:xfrm>
            <a:off x="3246120" y="4160520"/>
            <a:ext cx="256032" cy="164592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3538728" y="4142232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Wand</a:t>
            </a:r>
            <a:endParaRPr lang="en-US" sz="900" dirty="0"/>
          </a:p>
        </p:txBody>
      </p:sp>
      <p:sp>
        <p:nvSpPr>
          <p:cNvPr id="131" name="Shape 1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2 / 11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Q-Learning: Wie funktioniert es?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96012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9601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</a:rPr>
              <a:t>🎮  Analogie: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960120"/>
            <a:ext cx="6858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Like a video game newbie — first pressing random buttons, then learning from mistakes, eventually playing the level in your sleep.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1. Observe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👁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74320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Agent sees its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current state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240280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50592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50592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2. Act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50592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450592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Picks an action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(ε-greedy)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16552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26864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26864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3. Feedback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26864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626864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Receives reward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or penalty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592824" y="2743200"/>
            <a:ext cx="210312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03136" y="201168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803136" y="2011680"/>
            <a:ext cx="1965960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03136" y="201168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4. Learn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03136" y="251460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6803136" y="301752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Updates the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Q-table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" y="3794760"/>
            <a:ext cx="8595360" cy="777240"/>
          </a:xfrm>
          <a:prstGeom prst="rect">
            <a:avLst/>
          </a:prstGeom>
          <a:solidFill>
            <a:srgbClr val="0F1E35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57200" y="384048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Bellman: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828800" y="3840480"/>
            <a:ext cx="7040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Q(s,a) = Q(s,a) + α·[r + γ·maxQ(s',a') − Q(s,a)]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3 / 11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Parameters &amp; ε-Greedy Strategy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303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Parameter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5303520" cy="347472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4173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1188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Wert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8892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Bedeutung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801368"/>
            <a:ext cx="5303520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80136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  (alpha)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554480" y="1892808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18928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88920" y="1801368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Learning rate — how much new info overrides old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23160"/>
            <a:ext cx="5303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42316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γ  (gamma)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554480" y="2514600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54480" y="25146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0.9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88920" y="2423160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Discount factor — future rewards count almost as much as immediate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044952"/>
            <a:ext cx="5303520" cy="56692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044952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  (epsilon)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554480" y="3136392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31363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0.5 → 0.01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88920" y="3044952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Exploration decays each episode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3666744"/>
            <a:ext cx="530352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666744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Episodes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554480" y="3758184"/>
            <a:ext cx="10972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4480" y="37581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5.000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88920" y="3666744"/>
            <a:ext cx="2651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Number of complete runs through the maze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852160" y="914400"/>
            <a:ext cx="3017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10058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ε-Greedy Strategy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989320" y="1508760"/>
            <a:ext cx="2743200" cy="1005840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89320" y="1554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🎲  EXPLORATION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989320" y="19202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Random action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Agent explores unknown cells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43600" y="2606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with prob. ε    vs    (1-ε)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89320" y="2971800"/>
            <a:ext cx="2743200" cy="1005840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893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🧠  EXPLOITATION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989320" y="33832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Beste bekannte Aktion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Agent nutzt sein Wissen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4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Implementation: Code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0" cy="3749040"/>
          </a:xfrm>
          <a:prstGeom prst="rect">
            <a:avLst/>
          </a:prstGeom>
          <a:solidFill>
            <a:srgbClr val="1E2D3D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029200" cy="365760"/>
          </a:xfrm>
          <a:prstGeom prst="rect">
            <a:avLst/>
          </a:prstGeom>
          <a:solidFill>
            <a:srgbClr val="162030"/>
          </a:solidFill>
          <a:ln w="12700">
            <a:solidFill>
              <a:srgbClr val="162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BA4"/>
                </a:solidFill>
              </a:rPr>
              <a:t>● ● ●   Q-Learning Core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Q-Learning Update Rule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old_value = Q[state][action]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next_max = np.max(Q[next_state])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Q[state][action] = old_value + alpha \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 (reward + gamma * next_max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- old_value)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Epsilon Decay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epsilon = max(0.01,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epsilon * 0.995)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577840" y="914400"/>
            <a:ext cx="32918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0" y="10058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7 Steps in the Notebook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15000" y="148132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53328" y="148132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Libraries &amp; Maze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15000" y="192938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19293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53328" y="192938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RL Parameters &amp; Q-Table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15000" y="237744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15000" y="2377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53328" y="23774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Validity Check &amp; Action Selection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15000" y="2825496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2825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53328" y="282549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Train Agent (5,000 Episodes)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0" y="3273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53328" y="3273552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Extract Optimal Path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372160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37216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53328" y="372160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Visualize Maze &amp; Path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715000" y="416966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15000" y="41696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53328" y="4169664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Plot Learning Curve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5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Optimal Path: How the Agent Navigates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0" cy="3749040"/>
          </a:xfrm>
          <a:prstGeom prst="rect">
            <a:avLst/>
          </a:prstGeom>
          <a:solidFill>
            <a:srgbClr val="1E2D3D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029200" cy="365760"/>
          </a:xfrm>
          <a:prstGeom prst="rect">
            <a:avLst/>
          </a:prstGeom>
          <a:solidFill>
            <a:srgbClr val="162030"/>
          </a:solidFill>
          <a:ln w="12700">
            <a:solidFill>
              <a:srgbClr val="162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BA4"/>
                </a:solidFill>
              </a:rPr>
              <a:t>● ● ●   get_optimal_path()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get_optimal_path(Q, start, goal,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actions, maze):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[start]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 = start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 = set()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_ in range(max_steps):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state == goal: break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visited.add(state)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# Pick highest Q-value action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best_action = argmax(Q[state])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move = actions[best_action]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 = next(state, move)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path.append(state)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path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914400"/>
            <a:ext cx="32918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0" y="10058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How It Works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15000" y="148132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15000" y="14813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53328" y="148132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Start at (0,0)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15000" y="1956816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15000" y="1956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53328" y="1956816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Look up Q-values for all 4 directions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15000" y="2432304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15000" y="24323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53328" y="2432304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Pick the action with highest Q-value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15000" y="2907792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15000" y="2907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53328" y="290779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Move to next cell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15000" y="3383280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15000" y="3383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53328" y="33832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Repeat until goal reached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715000" y="3858768"/>
            <a:ext cx="256032" cy="25603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15000" y="38587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53328" y="385876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visited set prevents loops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6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Optimal Path: The Result</a:t>
            </a:r>
            <a:endParaRPr lang="en-US" sz="2200" dirty="0"/>
          </a:p>
        </p:txBody>
      </p:sp>
      <p:pic>
        <p:nvPicPr>
          <p:cNvPr id="4" name="Image 0" descr="/tmp/maze_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68680"/>
            <a:ext cx="50292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77840" y="868680"/>
            <a:ext cx="32918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760720" y="960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What We See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715000" y="1463040"/>
            <a:ext cx="2926080" cy="6583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06440" y="15087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🟢  Start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806440" y="182880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Agent begins top-left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15000" y="2212848"/>
            <a:ext cx="2926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06440" y="2258568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⭐  Goal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06440" y="257860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Target bottom-right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715000" y="2962656"/>
            <a:ext cx="2926080" cy="658368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3008376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〰️  Path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806440" y="332841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Route learned by Q-table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715000" y="3712464"/>
            <a:ext cx="292608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3758184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🟫  Walls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806440" y="407822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Avoided by the agent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7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Learning Progress: Tracking Improvement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5029200" cy="3749040"/>
          </a:xfrm>
          <a:prstGeom prst="rect">
            <a:avLst/>
          </a:prstGeom>
          <a:solidFill>
            <a:srgbClr val="1E2D3D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029200" cy="365760"/>
          </a:xfrm>
          <a:prstGeom prst="rect">
            <a:avLst/>
          </a:prstGeom>
          <a:solidFill>
            <a:srgbClr val="162030"/>
          </a:solidFill>
          <a:ln w="12700">
            <a:solidFill>
              <a:srgbClr val="1620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BA4"/>
                </a:solidFill>
              </a:rPr>
              <a:t>● ● ●   plot_rewards()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Collect total reward each episode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rewards_all_episodes = []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episode in range(num_episodes):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total_rewards = 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... run episode ...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rewards_all_episodes.append(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total_rewards)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Plot the learning curve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plot_rewards(rewards):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plt.plot(rewards)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plt.title('Total Rewards per Episode')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plt.xlabel('Episode')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plt.ylabel('Total Reward')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plt.grid(True)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8D8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plt.show()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914400"/>
            <a:ext cx="32918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760720" y="10058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Why Track Rewards?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760720" y="146304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Each episode the agent collects a total reward — the sum of all individual rewards in that run.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Early episodes: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 mostly negative — agent hits walls and wanders.
</a:t>
            </a:r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Later episodes: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 rewards increase as the agent learns the optimal path.
</a:t>
            </a:r>
            <a:pPr indent="0" marL="0">
              <a:buNone/>
            </a:pPr>
            <a:r>
              <a:rPr lang="en-US" sz="1200" i="1" dirty="0">
                <a:solidFill>
                  <a:srgbClr val="0D9488"/>
                </a:solidFill>
              </a:rPr>
              <a:t>This curve is proof that learning is happening.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8 /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Learning Progress: The Curve</a:t>
            </a:r>
            <a:endParaRPr lang="en-US" sz="2200" dirty="0"/>
          </a:p>
        </p:txBody>
      </p:sp>
      <p:pic>
        <p:nvPicPr>
          <p:cNvPr id="4" name="Image 0" descr="/tmp/rewards_pl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68680"/>
            <a:ext cx="566928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868680"/>
            <a:ext cx="26517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355080" y="9601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</a:rPr>
              <a:t>Reading the Chart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55080" y="1417320"/>
            <a:ext cx="64008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0" y="1417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Episodes 0–800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92240" y="16916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High variance — agent is exploring randomly, frequently hitting walls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355080" y="2286000"/>
            <a:ext cx="64008" cy="6858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2286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Episodes 800–2000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92240" y="25603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Transition — epsilon decays, agent starts exploiting learned paths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355080" y="3154680"/>
            <a:ext cx="64008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92240" y="3154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Episodes 2000–5000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92240" y="34290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Stabilization — agent consistently finds the goal, rewards level out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74320" y="4434840"/>
            <a:ext cx="8595360" cy="256032"/>
          </a:xfrm>
          <a:prstGeom prst="rect">
            <a:avLst/>
          </a:prstGeom>
          <a:solidFill>
            <a:srgbClr val="0D9488">
              <a:alpha val="12000"/>
            </a:srgbClr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💡  The upward trend confirms the agent is learning — even with noise from ongoing exploration.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9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2E4A"/>
          </a:solidFill>
          <a:ln w="12700">
            <a:solidFill>
              <a:srgbClr val="1B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 &amp; Analysis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96012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577840" y="96012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577840" y="96012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60720" y="10058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✅  Agent Finds the Path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760720" y="135331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After 5,000 episodes it reliably navigates from start to goal.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577840" y="205740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77840" y="205740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0" y="21031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📈  Clear Learning Curve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245059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Rewards rise from ~-85 to ~+44 — clear learning progress.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577840" y="3154680"/>
            <a:ext cx="32918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3154680"/>
            <a:ext cx="10972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0" y="32004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⚠️  Challenge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760720" y="354787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Epsilon decay too fast → agent gets stuck in suboptimal paths.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274320" y="4251960"/>
            <a:ext cx="8595360" cy="43891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42519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💡  What would I do differently?  Train more episodes + compare different epsilon decay rates.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Slide 10 / 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E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611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1790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3969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61488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0507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686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4865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70448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92240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14032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35824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7616" y="18288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3969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61488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507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2686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4865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4032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35824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57616" y="80467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9611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1790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3969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61488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328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0507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2686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4865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70448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92240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14032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35824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57616" y="142646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432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9611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1790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13969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761488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328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00507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2686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24865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70448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92240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14032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35824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57616" y="2048256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9611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51790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13969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61488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8328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00507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62686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24865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70448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492240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14032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735824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357616" y="2670048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7432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9611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51790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3969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761488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38328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0507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2686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4865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870448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492240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14032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735824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357616" y="3291840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7432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9611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1790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13969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761488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8328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00507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62686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865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70448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92240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114032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735824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357616" y="3913632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7432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9611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51790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13969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761488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38328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00507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62686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4865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870448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492240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14032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735824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357616" y="4535424"/>
            <a:ext cx="64008" cy="64008"/>
          </a:xfrm>
          <a:prstGeom prst="ellipse">
            <a:avLst/>
          </a:prstGeom>
          <a:solidFill>
            <a:srgbClr val="0D9488">
              <a:alpha val="20000"/>
            </a:srgbClr>
          </a:solidFill>
          <a:ln w="12700">
            <a:solidFill>
              <a:srgbClr val="0D9488">
                <a:alpha val="2000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31520" y="457200"/>
            <a:ext cx="7680960" cy="4160520"/>
          </a:xfrm>
          <a:prstGeom prst="rect">
            <a:avLst/>
          </a:prstGeom>
          <a:solidFill>
            <a:srgbClr val="1B2E4A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914400" y="640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</a:rPr>
              <a:t>Key Takeaways</a:t>
            </a:r>
            <a:endParaRPr lang="en-US" sz="2000" dirty="0"/>
          </a:p>
        </p:txBody>
      </p:sp>
      <p:sp>
        <p:nvSpPr>
          <p:cNvPr id="116" name="Shape 114"/>
          <p:cNvSpPr/>
          <p:nvPr/>
        </p:nvSpPr>
        <p:spPr>
          <a:xfrm>
            <a:off x="914400" y="1234440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097280" y="1234440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RL = Agent learns through trial &amp; error — no labeled data needed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914400" y="1801368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097280" y="180136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Q-Learning stores experience in a table and learns the optimal path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14400" y="2368296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97280" y="2368296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The Exploration-Exploitation dilemma is the core of RL — and applies to real life too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914400" y="2935224"/>
            <a:ext cx="5486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097280" y="2935224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Grid World is perfect for learning: simple, visual, intuitive</a:t>
            </a:r>
            <a:endParaRPr lang="en-US" sz="1300" dirty="0"/>
          </a:p>
        </p:txBody>
      </p:sp>
      <p:sp>
        <p:nvSpPr>
          <p:cNvPr id="124" name="Text 122"/>
          <p:cNvSpPr/>
          <p:nvPr/>
        </p:nvSpPr>
        <p:spPr>
          <a:xfrm>
            <a:off x="914400" y="3657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</a:rPr>
              <a:t>Resources:</a:t>
            </a:r>
            <a:endParaRPr lang="en-US" sz="1200" dirty="0"/>
          </a:p>
        </p:txBody>
      </p:sp>
      <p:sp>
        <p:nvSpPr>
          <p:cNvPr id="125" name="Text 123"/>
          <p:cNvSpPr/>
          <p:nvPr/>
        </p:nvSpPr>
        <p:spPr>
          <a:xfrm>
            <a:off x="2743200" y="3657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GeeksForGeeks · What is Reinforcement Learning     |     Sutton &amp; Barto: Reinforcement Learning — An Introduction</a:t>
            </a:r>
            <a:endParaRPr lang="en-US" sz="1100" dirty="0"/>
          </a:p>
        </p:txBody>
      </p:sp>
      <p:sp>
        <p:nvSpPr>
          <p:cNvPr id="126" name="Shape 1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DNL  ·  Ironhack Data Science Bootcamp  ·  2026          Thank You!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Learning: Grid World</dc:title>
  <dc:subject>PptxGenJS Presentation</dc:subject>
  <dc:creator>DNL</dc:creator>
  <cp:lastModifiedBy>DNL</cp:lastModifiedBy>
  <cp:revision>1</cp:revision>
  <dcterms:created xsi:type="dcterms:W3CDTF">2026-06-09T10:35:52Z</dcterms:created>
  <dcterms:modified xsi:type="dcterms:W3CDTF">2026-06-09T10:35:52Z</dcterms:modified>
</cp:coreProperties>
</file>