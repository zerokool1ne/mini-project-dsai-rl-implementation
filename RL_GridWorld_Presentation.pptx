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Belohnung pro Episode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Reward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500</c:v>
                  </c:pt>
                  <c:pt idx="2">
                    <c:v>1000</c:v>
                  </c:pt>
                  <c:pt idx="3">
                    <c:v>1500</c:v>
                  </c:pt>
                  <c:pt idx="4">
                    <c:v>2000</c:v>
                  </c:pt>
                  <c:pt idx="5">
                    <c:v>2500</c:v>
                  </c:pt>
                  <c:pt idx="6">
                    <c:v>3000</c:v>
                  </c:pt>
                  <c:pt idx="7">
                    <c:v>3500</c:v>
                  </c:pt>
                  <c:pt idx="8">
                    <c:v>4000</c:v>
                  </c:pt>
                  <c:pt idx="9">
                    <c:v>4500</c:v>
                  </c:pt>
                  <c:pt idx="10">
                    <c:v>5000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-85</c:v>
                </c:pt>
                <c:pt idx="1">
                  <c:v>-60</c:v>
                </c:pt>
                <c:pt idx="2">
                  <c:v>-35</c:v>
                </c:pt>
                <c:pt idx="3">
                  <c:v>-15</c:v>
                </c:pt>
                <c:pt idx="4">
                  <c:v>5</c:v>
                </c:pt>
                <c:pt idx="5">
                  <c:v>18</c:v>
                </c:pt>
                <c:pt idx="6">
                  <c:v>28</c:v>
                </c:pt>
                <c:pt idx="7">
                  <c:v>35</c:v>
                </c:pt>
                <c:pt idx="8">
                  <c:v>39</c:v>
                </c:pt>
                <c:pt idx="9">
                  <c:v>42</c:v>
                </c:pt>
                <c:pt idx="10">
                  <c:v>44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67728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51776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5824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19872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0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7728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51776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35824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67728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51776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19872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7728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51776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35824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03920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67728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51776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35824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19872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03920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822960"/>
            <a:ext cx="2377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822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MINI-PROJECT · IRONHACK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13716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Reinforcement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</a:t>
            </a:r>
            <a:endParaRPr lang="en-US" sz="5200" dirty="0"/>
          </a:p>
        </p:txBody>
      </p:sp>
      <p:sp>
        <p:nvSpPr>
          <p:cNvPr id="36" name="Text 34"/>
          <p:cNvSpPr/>
          <p:nvPr/>
        </p:nvSpPr>
        <p:spPr>
          <a:xfrm>
            <a:off x="4572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4B8A6"/>
                </a:solidFill>
              </a:rPr>
              <a:t>Grid World Navigation with Q-Learning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8BA4"/>
                </a:solidFill>
              </a:rPr>
              <a:t>DNL  ·  Ironhack Data Science Bootcamp  ·  2026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132320" y="1097280"/>
            <a:ext cx="1645920" cy="1645920"/>
          </a:xfrm>
          <a:prstGeom prst="ellipse">
            <a:avLst/>
          </a:prstGeom>
          <a:solidFill>
            <a:srgbClr val="1B2E4A"/>
          </a:solidFill>
          <a:ln w="381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0" y="1143000"/>
            <a:ext cx="1645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🤖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What is Reinforcement Learning?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97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The Idea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Ein Agent interagiert mit einer Umgebung.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Er probiert Aktionen aus, bekommt Belohnungen oder Strafen — und lernt mit der Zeit, immer besser zu werden.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Kein gelabeltes Daten. Kein Lehrer. Nur: ausprobieren → Feedback → verbessern.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The 5 Key Concepts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🧠  Agent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Der Lernende — trifft Entscheidungen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🌍  Umgebung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21488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Das System, in dem er agiert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📍  Zustand (State)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697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Wo befindet sich der Agent gerade?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246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🎮  Aktion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246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Was tut er als nächstes?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794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🏆  Belohnung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37947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Wie gut war die Entscheidung?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1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Problem: Grid World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83464" cy="283464"/>
          </a:xfrm>
          <a:prstGeom prst="rect">
            <a:avLst/>
          </a:prstGeom>
          <a:solidFill>
            <a:srgbClr val="F59E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5296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27048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30552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32304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34056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35808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3544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25296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7048" y="126187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32304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34056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5808" y="126187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25296" y="156362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27048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0" y="156362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30552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32304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34056" y="156362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3544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25296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27048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30552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32304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34056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35808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792" y="2167128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3544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225296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27048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28800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30552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32304" y="216712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34056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035808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0040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21792" y="2468880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3544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225296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27048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0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130552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432304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34056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35808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20040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1792" y="277063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23544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225296" y="277063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527048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828800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30552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432304" y="277063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34056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035808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20040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" y="307238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23544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25296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27048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0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30552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32304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34056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35808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20040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1792" y="337413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23544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225296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27048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0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30552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32304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34056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35808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21792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3544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225296" y="367588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27048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0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130552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32304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34056" y="367588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35808" y="3675888"/>
            <a:ext cx="283464" cy="283464"/>
          </a:xfrm>
          <a:prstGeom prst="rect">
            <a:avLst/>
          </a:prstGeom>
          <a:solidFill>
            <a:srgbClr val="10B98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0040" y="96012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3035808" y="3675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Z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3520440" y="960120"/>
            <a:ext cx="53035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7" name="Text 105"/>
          <p:cNvSpPr/>
          <p:nvPr/>
        </p:nvSpPr>
        <p:spPr>
          <a:xfrm>
            <a:off x="3749040" y="10972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Agent's Task</a:t>
            </a:r>
            <a:endParaRPr lang="en-US" sz="1500" dirty="0"/>
          </a:p>
        </p:txBody>
      </p:sp>
      <p:sp>
        <p:nvSpPr>
          <p:cNvPr id="108" name="Shape 106"/>
          <p:cNvSpPr/>
          <p:nvPr/>
        </p:nvSpPr>
        <p:spPr>
          <a:xfrm>
            <a:off x="3749040" y="1645920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749040" y="1645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🚀 Start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5212080" y="1645920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(oben links)  →  Ziel (unten rechts)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3749040" y="2267712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749040" y="22677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🧱 Hindernisse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5212080" y="2267712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Wände = verboten (Strafe: -10)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749040" y="2889504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749040" y="288950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👣 Jeden Schritt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5212080" y="2889504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kostet -1 Punkt (kürzter Weg!)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3749040" y="3511296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49040" y="351129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🏆 Ziel erreicht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5212080" y="3511296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+50 Punkte Belohnung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3749040" y="4133088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749040" y="41330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🔁 5.000 Versuche</a:t>
            </a:r>
            <a:endParaRPr lang="en-US" sz="1100" dirty="0"/>
          </a:p>
        </p:txBody>
      </p:sp>
      <p:sp>
        <p:nvSpPr>
          <p:cNvPr id="122" name="Text 120"/>
          <p:cNvSpPr/>
          <p:nvPr/>
        </p:nvSpPr>
        <p:spPr>
          <a:xfrm>
            <a:off x="5212080" y="4133088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um den besten Weg zu lernen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320040" y="4160520"/>
            <a:ext cx="2560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1264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Start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1280160" y="4160520"/>
            <a:ext cx="2560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57276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Ziel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2011680" y="4160520"/>
            <a:ext cx="256032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304288" y="414223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Gelernter Pfad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3246120" y="4160520"/>
            <a:ext cx="256032" cy="16459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53872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Wand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2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Q-Learning: Wie funktioniert es?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96012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9601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🎮  Analogie: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96012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Wie ein Videospiel-Neuling — zuerst random Knöpfe drücken, dann aus Fehlern lernen, irgendwann den Level im Schlaf durchspielen.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1. Beobachten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👁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74320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Agent sieht seinen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aktuellen Zustand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50592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50592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2. Handeln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50592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50592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Wählt eine Aktion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(ε-greedy)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16552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26864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3. Feedback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26864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626864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Erhält Belohnung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oder Strafe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92824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03136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03136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03136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4. Lernen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03136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03136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Aktualisiert die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Q-Tabelle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3794760"/>
            <a:ext cx="8595360" cy="777240"/>
          </a:xfrm>
          <a:prstGeom prst="rect">
            <a:avLst/>
          </a:prstGeom>
          <a:solidFill>
            <a:srgbClr val="0F1E35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38404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Bellman: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28800" y="3840480"/>
            <a:ext cx="7040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= Q(s,a) + α·[r + γ·maxQ(s',a') − Q(s,a)]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3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Schlüssel-Parameter &amp; ε-Greedy Strategie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303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Parameter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5303520" cy="347472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173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Wert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Bedeutung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801368"/>
            <a:ext cx="5303520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80136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 (alpha)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554480" y="1892808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18928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88920" y="1801368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Lernrate — wie stark neue Info alte überschreibt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23160"/>
            <a:ext cx="5303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42316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 (gamma)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54480" y="2514600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54480" y="25146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88920" y="2423160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Diskontierung — zukünftige Belohnungen zählen fast gleich viel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044952"/>
            <a:ext cx="5303520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044952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  (epsilon)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554480" y="3136392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3136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0.5 → 0.01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88920" y="3044952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Exploration sinkt mit jeder Episode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666744"/>
            <a:ext cx="5303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666744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Episodes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554480" y="3758184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448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5.000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88920" y="3666744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Anzahl der kompletten Durchläufe durchs Labyrinth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852160" y="914400"/>
            <a:ext cx="3017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1005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ε-Greedy Strategie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989320" y="1508760"/>
            <a:ext cx="2743200" cy="100584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8932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🎲  EXPLORATION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89320" y="19202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Zufällige Aktion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Agent erkundet unbekannte Felder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2606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mit Wahrsch. ε    vs    (1-ε)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89320" y="2971800"/>
            <a:ext cx="2743200" cy="100584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893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🧠  EXPLOITATION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98932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Beste bekannte Aktion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Agent nutzt sein Wissen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4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Implementierung: Code-Überblick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3749040"/>
          </a:xfrm>
          <a:prstGeom prst="rect">
            <a:avLst/>
          </a:prstGeom>
          <a:solidFill>
            <a:srgbClr val="1E2D3D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0" cy="36576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BA4"/>
                </a:solidFill>
              </a:rPr>
              <a:t>● ● ●   Q-Learning Core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Q-Learning Update Rule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old_value = Q[state][action]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next_max = np.max(Q[next_state])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Q[state][action] = old_value + alpha \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 (reward + gamma * next_max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- old_value)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Epsilon Decay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 = max(0.01,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epsilon * 0.995)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77840" y="914400"/>
            <a:ext cx="32918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005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7 Schritte im Notebook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15000" y="148132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53328" y="148132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Libraries &amp; Labyrinth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192938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1929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53328" y="192938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RL Parameter &amp; Q-Tabelle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237744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15000" y="2377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53328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Gültigkeitscheck &amp; Aktionswahl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15000" y="2825496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2825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53328" y="282549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Agent trainieren (5.000 Ep.)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327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53328" y="327355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Optimalen Pfad extrahieren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372160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3721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53328" y="372160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Labyrinth visualisieren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715000" y="416966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15000" y="4169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53328" y="416966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Lernkurve plotten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5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Optimal Path: How the Agent Navigates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3749040"/>
          </a:xfrm>
          <a:prstGeom prst="rect">
            <a:avLst/>
          </a:prstGeom>
          <a:solidFill>
            <a:srgbClr val="1E2D3D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0" cy="36576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BA4"/>
                </a:solidFill>
              </a:rPr>
              <a:t>● ● ●   get_optimal_path()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get_optimal_path(Q, start, goal,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actions, maze):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[start]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 = start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 = set()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range(max_steps):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state == goal: break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visited.add(state)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Pick highest Q-value action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best_action = argmax(Q[state])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move = actions[best_action]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 = next(state, move)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path.append(state)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path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914400"/>
            <a:ext cx="32918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005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How It Works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15000" y="148132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53328" y="14813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Start at (0,0)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1956816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1956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53328" y="1956816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Look up Q-values for all 4 directions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243230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15000" y="2432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53328" y="243230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Pick the action with highest Q-value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15000" y="2907792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2907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53328" y="290779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Move to next cell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15000" y="338328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3383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53328" y="3383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Repeat until goal reached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385876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3858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53328" y="38587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visited set prevents loops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6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Optimal Path: The Result</a:t>
            </a:r>
            <a:endParaRPr lang="en-US" sz="2200" dirty="0"/>
          </a:p>
        </p:txBody>
      </p:sp>
      <p:pic>
        <p:nvPicPr>
          <p:cNvPr id="4" name="Image 0" descr="/tmp/maze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50292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868680"/>
            <a:ext cx="3291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960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What We See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715000" y="1463040"/>
            <a:ext cx="2926080" cy="6583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06440" y="1508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🟢  Start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806440" y="182880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Agent begins top-left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15000" y="2212848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225856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⭐  Goal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06440" y="257860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Target bottom-right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715000" y="2962656"/>
            <a:ext cx="2926080" cy="6583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300837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〰️  Path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806440" y="332841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Route learned by Q-table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715000" y="3712464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3758184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🟫  Walls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806440" y="407822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Avoided by the agent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7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Learning Progress: Tracking Improvement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3749040"/>
          </a:xfrm>
          <a:prstGeom prst="rect">
            <a:avLst/>
          </a:prstGeom>
          <a:solidFill>
            <a:srgbClr val="1E2D3D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0" cy="36576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BA4"/>
                </a:solidFill>
              </a:rPr>
              <a:t>● ● ●   plot_rewards()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Collect total reward each episode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rewards_all_episodes = []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episode in range(num_episodes):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total_rewards = 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... run episode ...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rewards_all_episodes.append(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total_rewards)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Plot the learning curve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plot_rewards(rewards):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plt.plot(rewards)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plt.title('Total Rewards per Episode')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plt.xlabel('Episode')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plt.ylabel('Total Reward')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plt.grid(True)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plt.show()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914400"/>
            <a:ext cx="32918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005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Why Track Rewards?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0720" y="146304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Each episode the agent collects a total reward — the sum of all individual rewards in that run.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Early episodes: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 mostly negative — agent hits walls and wanders.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Later episodes: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 rewards increase as the agent learns the optimal path.
</a:t>
            </a:r>
            <a:pPr indent="0" marL="0">
              <a:buNone/>
            </a:pPr>
            <a:r>
              <a:rPr lang="en-US" sz="1200" i="1" dirty="0">
                <a:solidFill>
                  <a:srgbClr val="0D9488"/>
                </a:solidFill>
              </a:rPr>
              <a:t>This curve is proof that learning is happening.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8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Learning Progress: The Curve</a:t>
            </a:r>
            <a:endParaRPr lang="en-US" sz="2200" dirty="0"/>
          </a:p>
        </p:txBody>
      </p:sp>
      <p:pic>
        <p:nvPicPr>
          <p:cNvPr id="4" name="Image 0" descr="/tmp/rewards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566928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868680"/>
            <a:ext cx="2651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355080" y="960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Reading the Chart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55080" y="1417320"/>
            <a:ext cx="64008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Episodes 0–800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92240" y="16916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High variance — agent is exploring randomly, frequently hitting walls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355080" y="2286000"/>
            <a:ext cx="64008" cy="6858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2286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Episodes 800–2000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92240" y="25603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Transition — epsilon decays, agent starts exploiting learned paths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355080" y="3154680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92240" y="3154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Episodes 2000–5000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92240" y="34290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Stabilization — agent consistently finds the goal, rewards level out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74320" y="4434840"/>
            <a:ext cx="8595360" cy="25603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💡  The upward trend confirms the agent is learning — even with noise from ongoing exploration.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9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Ergebnisse &amp; Analyse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96012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96012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0" y="96012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005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✅  Agent findet den Weg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760720" y="135331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Nach 5.000 Episoden navigiert er zuverlässig vom Start zum Ziel.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05740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77840" y="205740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21031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📈  Klare Lernkurve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24505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Belohnungen steigen von ~-85 auf ~+44 — deutlicher Lernfortschritt.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577840" y="315468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315468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32004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⚠️  Herausforderung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760720" y="35478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Epsilon-Decay zu schnell → Agent bleibt in suboptimalen Pfaden stecken.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4251960"/>
            <a:ext cx="8595360" cy="43891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2519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💡  Was würde ich anders machen?  Mehr Episoden + verschiedene Epsilon-Decay-Raten vergleichen.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10 /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611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1790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3969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0507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686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865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70448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3582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761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3969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1488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507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686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4865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403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3582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5761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611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1790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69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61488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0507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2686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4865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70448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9224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1403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3582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5761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611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1790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13969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761488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0507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2686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4865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70448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9224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1403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3582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761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9611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51790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13969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61488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8328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00507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2686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24865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70448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9224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1403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73582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35761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432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9611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1790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3969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761488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38328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0507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2686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4865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870448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9224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1403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73582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35761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7432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9611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1790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13969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761488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8328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00507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62686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865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70448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9224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11403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73582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35761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7432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9611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51790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13969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761488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38328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00507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62686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4865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870448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49224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1403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73582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35761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31520" y="457200"/>
            <a:ext cx="7680960" cy="4160520"/>
          </a:xfrm>
          <a:prstGeom prst="rect">
            <a:avLst/>
          </a:prstGeom>
          <a:solidFill>
            <a:srgbClr val="1B2E4A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914400" y="640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</a:rPr>
              <a:t>Key Takeaways</a:t>
            </a:r>
            <a:endParaRPr lang="en-US" sz="2000" dirty="0"/>
          </a:p>
        </p:txBody>
      </p:sp>
      <p:sp>
        <p:nvSpPr>
          <p:cNvPr id="116" name="Shape 114"/>
          <p:cNvSpPr/>
          <p:nvPr/>
        </p:nvSpPr>
        <p:spPr>
          <a:xfrm>
            <a:off x="914400" y="1234440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97280" y="123444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RL = Agent lernt durch Versuch &amp; Irrtum — kein gelabeltes Daten nötig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914400" y="1801368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097280" y="180136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Q-Learning speichert Erfahrungen in einer Tabelle und lernt den optimalen Weg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14400" y="2368296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97280" y="2368296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Das Exploration-Exploitation-Dilemma ist das Herzstück von RL — auch im echten Leben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914400" y="2935224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097280" y="2935224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Grid World ist ideal zum Verstehen: einfach, visuell, nachvollziehbar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914400" y="3657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</a:rPr>
              <a:t>Ressourcen: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2743200" y="3657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GeeksForGeeks · What is Reinforcement Learning     |     Sutton &amp; Barto: Reinforcement Learning — An Introduction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DNL  ·  Ironhack Data Science Bootcamp  ·  2026          Thank You!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Learning: Grid World</dc:title>
  <dc:subject>PptxGenJS Presentation</dc:subject>
  <dc:creator>DNL</dc:creator>
  <cp:lastModifiedBy>DNL</cp:lastModifiedBy>
  <cp:revision>1</cp:revision>
  <dcterms:created xsi:type="dcterms:W3CDTF">2026-06-09T10:31:01Z</dcterms:created>
  <dcterms:modified xsi:type="dcterms:W3CDTF">2026-06-09T10:31:01Z</dcterms:modified>
</cp:coreProperties>
</file>