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Reward per Episode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Reward</c:v>
                </c:pt>
              </c:strCache>
            </c:strRef>
          </c:tx>
          <c:spPr>
            <a:solidFill>
              <a:srgbClr val="0D9488"/>
            </a:solidFill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500</c:v>
                  </c:pt>
                  <c:pt idx="2">
                    <c:v>1000</c:v>
                  </c:pt>
                  <c:pt idx="3">
                    <c:v>1500</c:v>
                  </c:pt>
                  <c:pt idx="4">
                    <c:v>2000</c:v>
                  </c:pt>
                  <c:pt idx="5">
                    <c:v>2500</c:v>
                  </c:pt>
                  <c:pt idx="6">
                    <c:v>3000</c:v>
                  </c:pt>
                  <c:pt idx="7">
                    <c:v>3500</c:v>
                  </c:pt>
                  <c:pt idx="8">
                    <c:v>4000</c:v>
                  </c:pt>
                  <c:pt idx="9">
                    <c:v>4500</c:v>
                  </c:pt>
                  <c:pt idx="10">
                    <c:v>5000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-85</c:v>
                </c:pt>
                <c:pt idx="1">
                  <c:v>-60</c:v>
                </c:pt>
                <c:pt idx="2">
                  <c:v>-35</c:v>
                </c:pt>
                <c:pt idx="3">
                  <c:v>-15</c:v>
                </c:pt>
                <c:pt idx="4">
                  <c:v>5</c:v>
                </c:pt>
                <c:pt idx="5">
                  <c:v>18</c:v>
                </c:pt>
                <c:pt idx="6">
                  <c:v>28</c:v>
                </c:pt>
                <c:pt idx="7">
                  <c:v>35</c:v>
                </c:pt>
                <c:pt idx="8">
                  <c:v>39</c:v>
                </c:pt>
                <c:pt idx="9">
                  <c:v>42</c:v>
                </c:pt>
                <c:pt idx="10">
                  <c:v>44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967728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51776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35824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19872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03920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0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67728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51776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35824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0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67728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51776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35824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19872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67728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51776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35824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03920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67728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51776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35824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19872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503920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822960"/>
            <a:ext cx="237744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8229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MINI-PROJECT · IRONHACK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137160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Reinforcement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Learning</a:t>
            </a:r>
            <a:endParaRPr lang="en-US" sz="5200" dirty="0"/>
          </a:p>
        </p:txBody>
      </p:sp>
      <p:sp>
        <p:nvSpPr>
          <p:cNvPr id="36" name="Text 34"/>
          <p:cNvSpPr/>
          <p:nvPr/>
        </p:nvSpPr>
        <p:spPr>
          <a:xfrm>
            <a:off x="457200" y="3017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4B8A6"/>
                </a:solidFill>
              </a:rPr>
              <a:t>Grid World Navigation with Q-Learning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8BA4"/>
                </a:solidFill>
              </a:rPr>
              <a:t>DNL  ·  Ironhack Data Science Bootcamp  ·  2026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132320" y="1097280"/>
            <a:ext cx="1645920" cy="1645920"/>
          </a:xfrm>
          <a:prstGeom prst="ellipse">
            <a:avLst/>
          </a:prstGeom>
          <a:solidFill>
            <a:srgbClr val="1B2E4A"/>
          </a:solidFill>
          <a:ln w="381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0" y="1143000"/>
            <a:ext cx="1645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🤖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What is Reinforcement Learning?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972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</a:rPr>
              <a:t>The Idea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An agent interacts with an environment.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It tries actions, receives rewards or penalties — and learns over time to get better and better.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No labeled data. No teacher. Just: try → get feedback → improve.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0972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</a:rPr>
              <a:t>The 5 Key Concepts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600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🧠  Agent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16002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The learner — makes decisions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🌍  Environment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0" y="21488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The system the agent operates in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2697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📍  State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2697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Where is the agent right now?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3246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🎮  Action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3246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What does it do next?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37947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🏆  Reward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0" y="37947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How good was the decision?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1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Problem: Grid World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83464" cy="283464"/>
          </a:xfrm>
          <a:prstGeom prst="rect">
            <a:avLst/>
          </a:prstGeom>
          <a:solidFill>
            <a:srgbClr val="F59E0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544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25296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27048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30552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32304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34056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35808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126187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" y="126187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3544" y="126187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25296" y="126187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27048" y="126187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28800" y="1261872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30552" y="1261872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32304" y="1261872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34056" y="1261872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5808" y="126187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3544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25296" y="1563624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27048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828800" y="1563624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30552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432304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34056" y="1563624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5808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" y="186537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" y="1865376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3544" y="1865376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225296" y="186537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27048" y="186537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28800" y="186537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30552" y="186537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432304" y="1865376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734056" y="1865376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035808" y="186537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0040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1792" y="2167128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23544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225296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527048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828800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130552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32304" y="2167128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734056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035808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20040" y="246888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21792" y="2468880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3544" y="246888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225296" y="2468880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527048" y="2468880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828800" y="2468880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130552" y="2468880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432304" y="2468880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34056" y="246888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035808" y="246888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20040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21792" y="2770632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23544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225296" y="277063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527048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828800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130552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432304" y="277063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734056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035808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20040" y="307238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21792" y="3072384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23544" y="307238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225296" y="3072384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527048" y="307238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828800" y="3072384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130552" y="3072384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432304" y="3072384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34056" y="307238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035808" y="307238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20040" y="337413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1792" y="3374136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23544" y="337413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225296" y="337413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527048" y="337413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28800" y="337413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30552" y="337413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432304" y="337413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734056" y="337413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35808" y="337413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20040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21792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3544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225296" y="3675888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527048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828800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130552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432304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34056" y="3675888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035808" y="3675888"/>
            <a:ext cx="283464" cy="283464"/>
          </a:xfrm>
          <a:prstGeom prst="rect">
            <a:avLst/>
          </a:prstGeom>
          <a:solidFill>
            <a:srgbClr val="10B98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20040" y="96012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</a:t>
            </a:r>
            <a:endParaRPr lang="en-US" sz="900" dirty="0"/>
          </a:p>
        </p:txBody>
      </p:sp>
      <p:sp>
        <p:nvSpPr>
          <p:cNvPr id="105" name="Text 103"/>
          <p:cNvSpPr/>
          <p:nvPr/>
        </p:nvSpPr>
        <p:spPr>
          <a:xfrm>
            <a:off x="3035808" y="3675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Z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3520440" y="960120"/>
            <a:ext cx="53035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7" name="Text 105"/>
          <p:cNvSpPr/>
          <p:nvPr/>
        </p:nvSpPr>
        <p:spPr>
          <a:xfrm>
            <a:off x="3749040" y="10972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</a:rPr>
              <a:t>Agent's Task</a:t>
            </a:r>
            <a:endParaRPr lang="en-US" sz="1500" dirty="0"/>
          </a:p>
        </p:txBody>
      </p:sp>
      <p:sp>
        <p:nvSpPr>
          <p:cNvPr id="108" name="Shape 106"/>
          <p:cNvSpPr/>
          <p:nvPr/>
        </p:nvSpPr>
        <p:spPr>
          <a:xfrm>
            <a:off x="3749040" y="1645920"/>
            <a:ext cx="1371600" cy="438912"/>
          </a:xfrm>
          <a:prstGeom prst="rect">
            <a:avLst/>
          </a:prstGeom>
          <a:solidFill>
            <a:srgbClr val="0D9488">
              <a:alpha val="1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749040" y="16459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🚀 Start</a:t>
            </a:r>
            <a:endParaRPr lang="en-US" sz="1100" dirty="0"/>
          </a:p>
        </p:txBody>
      </p:sp>
      <p:sp>
        <p:nvSpPr>
          <p:cNvPr id="110" name="Text 108"/>
          <p:cNvSpPr/>
          <p:nvPr/>
        </p:nvSpPr>
        <p:spPr>
          <a:xfrm>
            <a:off x="5212080" y="1645920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(top left)  →  Goal (bottom right)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3749040" y="2267712"/>
            <a:ext cx="1371600" cy="438912"/>
          </a:xfrm>
          <a:prstGeom prst="rect">
            <a:avLst/>
          </a:prstGeom>
          <a:solidFill>
            <a:srgbClr val="0D9488">
              <a:alpha val="1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749040" y="226771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🧱 Hindernisse</a:t>
            </a:r>
            <a:endParaRPr lang="en-US" sz="1100" dirty="0"/>
          </a:p>
        </p:txBody>
      </p:sp>
      <p:sp>
        <p:nvSpPr>
          <p:cNvPr id="113" name="Text 111"/>
          <p:cNvSpPr/>
          <p:nvPr/>
        </p:nvSpPr>
        <p:spPr>
          <a:xfrm>
            <a:off x="5212080" y="2267712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Walls = forbidden (penalty: -10)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3749040" y="2889504"/>
            <a:ext cx="1371600" cy="438912"/>
          </a:xfrm>
          <a:prstGeom prst="rect">
            <a:avLst/>
          </a:prstGeom>
          <a:solidFill>
            <a:srgbClr val="0D9488">
              <a:alpha val="1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749040" y="288950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👣 Jeden Schritt</a:t>
            </a:r>
            <a:endParaRPr lang="en-US" sz="1100" dirty="0"/>
          </a:p>
        </p:txBody>
      </p:sp>
      <p:sp>
        <p:nvSpPr>
          <p:cNvPr id="116" name="Text 114"/>
          <p:cNvSpPr/>
          <p:nvPr/>
        </p:nvSpPr>
        <p:spPr>
          <a:xfrm>
            <a:off x="5212080" y="2889504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costs -1 point (find shortest path!)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3749040" y="3511296"/>
            <a:ext cx="1371600" cy="438912"/>
          </a:xfrm>
          <a:prstGeom prst="rect">
            <a:avLst/>
          </a:prstGeom>
          <a:solidFill>
            <a:srgbClr val="0D9488">
              <a:alpha val="1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749040" y="3511296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🏆 Ziel erreicht</a:t>
            </a:r>
            <a:endParaRPr lang="en-US" sz="1100" dirty="0"/>
          </a:p>
        </p:txBody>
      </p:sp>
      <p:sp>
        <p:nvSpPr>
          <p:cNvPr id="119" name="Text 117"/>
          <p:cNvSpPr/>
          <p:nvPr/>
        </p:nvSpPr>
        <p:spPr>
          <a:xfrm>
            <a:off x="5212080" y="3511296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+50 points reward</a:t>
            </a:r>
            <a:endParaRPr lang="en-US" sz="1200" dirty="0"/>
          </a:p>
        </p:txBody>
      </p:sp>
      <p:sp>
        <p:nvSpPr>
          <p:cNvPr id="120" name="Shape 118"/>
          <p:cNvSpPr/>
          <p:nvPr/>
        </p:nvSpPr>
        <p:spPr>
          <a:xfrm>
            <a:off x="3749040" y="4133088"/>
            <a:ext cx="1371600" cy="438912"/>
          </a:xfrm>
          <a:prstGeom prst="rect">
            <a:avLst/>
          </a:prstGeom>
          <a:solidFill>
            <a:srgbClr val="0D9488">
              <a:alpha val="1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749040" y="413308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🔁 5.000 Versuche</a:t>
            </a:r>
            <a:endParaRPr lang="en-US" sz="1100" dirty="0"/>
          </a:p>
        </p:txBody>
      </p:sp>
      <p:sp>
        <p:nvSpPr>
          <p:cNvPr id="122" name="Text 120"/>
          <p:cNvSpPr/>
          <p:nvPr/>
        </p:nvSpPr>
        <p:spPr>
          <a:xfrm>
            <a:off x="5212080" y="4133088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to learn the optimal path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320040" y="4160520"/>
            <a:ext cx="25603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12648" y="414223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Start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1280160" y="4160520"/>
            <a:ext cx="2560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572768" y="414223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Ziel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2011680" y="4160520"/>
            <a:ext cx="256032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304288" y="414223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Learned Path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3246120" y="4160520"/>
            <a:ext cx="256032" cy="164592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538728" y="414223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Wall</a:t>
            </a:r>
            <a:endParaRPr lang="en-US" sz="900" dirty="0"/>
          </a:p>
        </p:txBody>
      </p:sp>
      <p:sp>
        <p:nvSpPr>
          <p:cNvPr id="131" name="Shape 12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2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Q-Learning: How Does It Work?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96012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9601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🎮  Analogy: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28800" y="960120"/>
            <a:ext cx="6858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Like a video game newbie — first pressing random buttons, then learning from mistakes, eventually playing the level in your sleep.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201168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2011680"/>
            <a:ext cx="196596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0116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1. Observe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251460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👁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74320" y="301752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Agent sees its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current state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40280" y="2743200"/>
            <a:ext cx="21031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50592" y="201168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50592" y="2011680"/>
            <a:ext cx="196596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50592" y="20116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2. Act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50592" y="251460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450592" y="301752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Picks an action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(ε-greedy)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16552" y="2743200"/>
            <a:ext cx="21031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26864" y="201168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26864" y="2011680"/>
            <a:ext cx="196596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26864" y="20116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3. Feedback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26864" y="251460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626864" y="301752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Receives reward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or penalty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92824" y="2743200"/>
            <a:ext cx="21031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03136" y="201168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03136" y="2011680"/>
            <a:ext cx="196596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03136" y="20116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4. Learn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03136" y="251460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6803136" y="301752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Updates the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Q-table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3794760"/>
            <a:ext cx="8595360" cy="777240"/>
          </a:xfrm>
          <a:prstGeom prst="rect">
            <a:avLst/>
          </a:prstGeom>
          <a:solidFill>
            <a:srgbClr val="0F1E35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57200" y="384048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Bellman: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828800" y="3840480"/>
            <a:ext cx="7040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Q(s,a) = Q(s,a) + α·[r + γ·maxQ(s',a') − Q(s,a)]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3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Key Parameters &amp; ε-Greedy Strategy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53035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058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Parameter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5303520" cy="347472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417320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Parameter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54480" y="1417320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Value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8892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801368"/>
            <a:ext cx="5303520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801368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  (alpha)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554480" y="1892808"/>
            <a:ext cx="10972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18928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0.1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88920" y="1801368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Learning rate — how much new info overrides old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423160"/>
            <a:ext cx="53035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423160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  (gamma)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54480" y="2514600"/>
            <a:ext cx="10972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54480" y="25146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0.9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88920" y="2423160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Discount factor — future rewards count almost as much as immediate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044952"/>
            <a:ext cx="5303520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044952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  (epsilon)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554480" y="3136392"/>
            <a:ext cx="10972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54480" y="3136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0.5 → 0.01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88920" y="3044952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Exploration decays each episode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3666744"/>
            <a:ext cx="53035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666744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Episodes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554480" y="3758184"/>
            <a:ext cx="10972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4480" y="37581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5.000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88920" y="3666744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Number of complete runs through the maze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852160" y="914400"/>
            <a:ext cx="30175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35040" y="1005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ε-Greedy Strategy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989320" y="1508760"/>
            <a:ext cx="2743200" cy="1005840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89320" y="1554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🎲  EXPLORATION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989320" y="19202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Random action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Agent explores unknown cells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43600" y="26060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with prob. ε    vs    (1-ε)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989320" y="2971800"/>
            <a:ext cx="2743200" cy="1005840"/>
          </a:xfrm>
          <a:prstGeom prst="rect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8932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🧠  EXPLOITATION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989320" y="33832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Best known action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Agent uses its knowledge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4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Implementation: Code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5029200" cy="3749040"/>
          </a:xfrm>
          <a:prstGeom prst="rect">
            <a:avLst/>
          </a:prstGeom>
          <a:solidFill>
            <a:srgbClr val="1E2D3D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5029200" cy="365760"/>
          </a:xfrm>
          <a:prstGeom prst="rect">
            <a:avLst/>
          </a:prstGeom>
          <a:solidFill>
            <a:srgbClr val="162030"/>
          </a:solidFill>
          <a:ln w="12700">
            <a:solidFill>
              <a:srgbClr val="1620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BA4"/>
                </a:solidFill>
              </a:rPr>
              <a:t>● ● ●   Q-Learning Core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Q-Learning Update Rule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old_value = Q[state][action]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next_max = np.max(Q[next_state])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Q[state][action] = old_value + alpha \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* (reward + gamma * next_max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- old_value)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Epsilon Decay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epsilon = max(0.01,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epsilon * 0.995)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77840" y="914400"/>
            <a:ext cx="32918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760720" y="10058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7 Steps in the Notebook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15000" y="1481328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15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53328" y="148132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Libraries &amp; Maze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15000" y="1929384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15000" y="1929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53328" y="1929384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RL Parameters &amp; Q-Table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15000" y="2377440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15000" y="2377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53328" y="2377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Validity Check &amp; Action Selection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15000" y="2825496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15000" y="28254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53328" y="2825496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Train Agent (5,000 Episodes)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715000" y="3273552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15000" y="32735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53328" y="3273552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Extract Optimal Path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715000" y="3721608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15000" y="3721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53328" y="372160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Visualize Maze &amp; Path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715000" y="4169664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15000" y="4169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53328" y="4169664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Plot Learning Curve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5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Results &amp; Analysis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96012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577840" y="960120"/>
            <a:ext cx="32918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577840" y="960120"/>
            <a:ext cx="109728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10058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✅  Agent Finds the Path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760720" y="135331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After 5,000 episodes it reliably navigates from start to goal.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057400"/>
            <a:ext cx="32918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77840" y="2057400"/>
            <a:ext cx="109728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0" y="21031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📈  Clear Learning Curve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245059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Rewards rise from ~-85 to ~+44 — clear learning progress.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577840" y="3154680"/>
            <a:ext cx="32918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577840" y="3154680"/>
            <a:ext cx="109728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60720" y="32004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⚠️  Challenge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760720" y="354787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Epsilon decay too fast → agent gets stuck in suboptimal paths.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74320" y="4251960"/>
            <a:ext cx="8595360" cy="43891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425196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💡  What would I do differently?  Train more episodes + compare different epsilon decay rates.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6 /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6112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17904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39696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61488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05072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6864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48656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70448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92240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14032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35824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7616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17904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39696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61488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3280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5072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26864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48656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92240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4032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35824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57616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6112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517904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39696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61488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3280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05072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626864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48656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70448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92240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14032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735824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57616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4320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6112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17904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139696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761488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83280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005072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26864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248656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870448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92240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14032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735824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57616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74320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96112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517904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139696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61488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83280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005072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626864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248656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870448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492240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14032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735824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357616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74320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96112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17904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39696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761488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383280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05072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26864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48656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870448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492240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14032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735824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357616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74320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96112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517904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139696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761488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83280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005072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626864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48656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870448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92240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114032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735824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357616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74320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96112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517904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139696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761488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383280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005072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4626864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48656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870448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6492240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114032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735824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357616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731520" y="457200"/>
            <a:ext cx="7680960" cy="4160520"/>
          </a:xfrm>
          <a:prstGeom prst="rect">
            <a:avLst/>
          </a:prstGeom>
          <a:solidFill>
            <a:srgbClr val="1B2E4A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914400" y="640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</a:rPr>
              <a:t>Key Takeaways</a:t>
            </a:r>
            <a:endParaRPr lang="en-US" sz="2000" dirty="0"/>
          </a:p>
        </p:txBody>
      </p:sp>
      <p:sp>
        <p:nvSpPr>
          <p:cNvPr id="116" name="Shape 114"/>
          <p:cNvSpPr/>
          <p:nvPr/>
        </p:nvSpPr>
        <p:spPr>
          <a:xfrm>
            <a:off x="914400" y="1234440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97280" y="1234440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RL = Agent learns through trial &amp; error — no labeled data needed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914400" y="1801368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1097280" y="180136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Q-Learning stores experience in a table and learns the optimal path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914400" y="2368296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097280" y="2368296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The Exploration-Exploitation dilemma is the core of RL — and applies to real life too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914400" y="2935224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097280" y="2935224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Grid World is perfect for learning: simple, visual, intuitive</a:t>
            </a:r>
            <a:endParaRPr lang="en-US" sz="1300" dirty="0"/>
          </a:p>
        </p:txBody>
      </p:sp>
      <p:sp>
        <p:nvSpPr>
          <p:cNvPr id="124" name="Text 122"/>
          <p:cNvSpPr/>
          <p:nvPr/>
        </p:nvSpPr>
        <p:spPr>
          <a:xfrm>
            <a:off x="914400" y="36576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</a:rPr>
              <a:t>Resources:</a:t>
            </a:r>
            <a:endParaRPr lang="en-US" sz="1200" dirty="0"/>
          </a:p>
        </p:txBody>
      </p:sp>
      <p:sp>
        <p:nvSpPr>
          <p:cNvPr id="125" name="Text 123"/>
          <p:cNvSpPr/>
          <p:nvPr/>
        </p:nvSpPr>
        <p:spPr>
          <a:xfrm>
            <a:off x="2743200" y="3657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GeeksForGeeks · What is Reinforcement Learning     |     Sutton &amp; Barto: Reinforcement Learning — An Introduction</a:t>
            </a:r>
            <a:endParaRPr lang="en-US" sz="1100" dirty="0"/>
          </a:p>
        </p:txBody>
      </p:sp>
      <p:sp>
        <p:nvSpPr>
          <p:cNvPr id="126" name="Shape 1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DNL  ·  Ironhack Data Science Bootcamp  ·  2026          Thank You!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Learning: Grid World</dc:title>
  <dc:subject>PptxGenJS Presentation</dc:subject>
  <dc:creator>DNL</dc:creator>
  <cp:lastModifiedBy>DNL</cp:lastModifiedBy>
  <cp:revision>1</cp:revision>
  <dcterms:created xsi:type="dcterms:W3CDTF">2026-06-08T14:40:39Z</dcterms:created>
  <dcterms:modified xsi:type="dcterms:W3CDTF">2026-06-08T14:40:39Z</dcterms:modified>
</cp:coreProperties>
</file>